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6208" y="-389545"/>
            <a:ext cx="9144000" cy="2316702"/>
          </a:xfrm>
        </p:spPr>
        <p:txBody>
          <a:bodyPr wrap="square"/>
          <a:lstStyle/>
          <a:p>
            <a:r>
              <a:rPr sz="3000"/>
              <a:t>Data Structures and Algorithms -3 (25CS2103E)</a:t>
            </a:r>
            <a:br/>
            <a:r>
              <a:rPr sz="3000"/>
              <a:t>Document &amp; Code Similarity Analyzer for Interview and Exam Integrity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590" y="2210504"/>
            <a:ext cx="6149260" cy="1396014"/>
          </a:xfrm>
        </p:spPr>
        <p:txBody>
          <a:bodyPr wrap="square"/>
          <a:lstStyle/>
          <a:p>
            <a:r>
              <a:rPr sz="1500"/>
              <a:t>Team Members</a:t>
            </a:r>
            <a:br/>
            <a:r>
              <a:rPr sz="1500"/>
              <a:t>Name: V.Pranav   Roll No:2520030207</a:t>
            </a:r>
            <a:br/>
            <a:r>
              <a:rPr sz="1500"/>
              <a:t>Name: G.Rohith   Roll No:2520030220</a:t>
            </a:r>
            <a:br/>
            <a:r>
              <a:rPr sz="1500"/>
              <a:t>Name: P.Samrat   Roll No:2520030131</a:t>
            </a:r>
            <a:br/>
            <a:r>
              <a:rPr sz="1500"/>
              <a:t>Name: R.Akshith  Roll No:2520030041</a:t>
            </a:r>
            <a:br/>
            <a:br/>
            <a:r>
              <a:rPr sz="1500"/>
              <a:t>Under the Esteemed Guidance of</a:t>
            </a:r>
            <a:br/>
            <a:r>
              <a:rPr sz="1500"/>
              <a:t>Dr.S.MADHAVI</a:t>
            </a:r>
            <a:br/>
            <a:r>
              <a:rPr sz="1500"/>
              <a:t>DSA-3 Faculty,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800"/>
              <a:t>Abstract</a:t>
            </a:r>
            <a:br/>
            <a:r>
              <a:rPr sz="1800"/>
              <a:t>Introduction &amp; Motivation</a:t>
            </a:r>
            <a:br/>
            <a:r>
              <a:rPr sz="1800"/>
              <a:t>Literature Survey &amp; Algorithmic Comparison</a:t>
            </a:r>
            <a:br/>
            <a:r>
              <a:rPr sz="1800"/>
              <a:t>Problem Statement &amp; Objectives</a:t>
            </a:r>
            <a:br/>
            <a:r>
              <a:rPr sz="1800"/>
              <a:t>System Architecture &amp; Flowchart</a:t>
            </a:r>
            <a:br/>
            <a:r>
              <a:rPr sz="1800"/>
              <a:t>Core Algorithms Implemented (DSA-3 CO2 &amp; CO6)</a:t>
            </a:r>
            <a:br/>
            <a:r>
              <a:rPr sz="1800"/>
              <a:t>Empirical Results &amp; Latency Benchmarks</a:t>
            </a:r>
            <a:br/>
            <a:r>
              <a:rPr sz="1800"/>
              <a:t>Hardware &amp; Software Requirements</a:t>
            </a:r>
            <a:br/>
            <a:r>
              <a:rPr sz="1800"/>
              <a:t>Conclusion &amp; 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234440"/>
            <a:ext cx="8823960" cy="44805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0">
                <a:solidFill>
                  <a:srgbClr val="232B34"/>
                </a:solidFill>
                <a:latin typeface="Aptos"/>
              </a:defRPr>
            </a:pPr>
            <a:r>
              <a:rPr sz="1400"/>
              <a:t>The Document &amp; Code Similarity Analyzer is a scalable software engine built to detect collusion, code sharing, and plagiarized logic during technical interview screening and university coding examinations.</a:t>
            </a:r>
            <a:br/>
            <a:br/>
            <a:r>
              <a:rPr sz="1400"/>
              <a:t>Traditional line-by-line diff utilities fail when candidates reword comments, modify indentation, or rearrange code. This project addresses these challenges using Linear-Time String Algorithms and Suffix Data Structures:</a:t>
            </a:r>
            <a:br/>
            <a:br/>
            <a:r>
              <a:rPr sz="1400"/>
              <a:t>• Rabin-Karp with Rolling Hash &amp; Winnowing generates polynomial hash fingerprints to detect shared blocks.</a:t>
            </a:r>
            <a:br/>
            <a:r>
              <a:rPr sz="1400"/>
              <a:t>• Knuth-Morris-Pratt (KMP) eliminates backtracking using a precomputed LPS array.</a:t>
            </a:r>
            <a:br/>
            <a:r>
              <a:rPr sz="1400"/>
              <a:t>• Z-Algorithm achieves O(N) prefix-box matching.</a:t>
            </a:r>
            <a:br/>
            <a:r>
              <a:rPr sz="1400"/>
              <a:t>• Suffix Array with Kasai's LCP Array identifies exact Longest Common Substrings (LCS).</a:t>
            </a:r>
            <a:br/>
            <a:r>
              <a:rPr sz="1400"/>
              <a:t>• TF-IDF Vector Space Model evaluates vocabulary distribution similarity.</a:t>
            </a:r>
            <a:br/>
            <a:br/>
            <a:r>
              <a:rPr sz="1400"/>
              <a:t>Built with a zero-dependency Java backend and an interactive web dashboard, the system provides synchronized side-by-side visual diffs with microsecond-level benchmarks.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1234440"/>
            <a:ext cx="274320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71800" y="130759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E67B2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636776"/>
            <a:ext cx="25603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0">
                <a:solidFill>
                  <a:srgbClr val="232B34"/>
                </a:solidFill>
                <a:latin typeface="Aptos"/>
              </a:defRPr>
            </a:pPr>
            <a:r>
              <a:t>Unicode scripts, spelling errors and corpus growth make repeated full-document scanning inefficient.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234440"/>
            <a:ext cx="274320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97879" y="130759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28B8D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79" y="1636776"/>
            <a:ext cx="25603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0">
                <a:solidFill>
                  <a:srgbClr val="232B34"/>
                </a:solidFill>
                <a:latin typeface="Aptos"/>
              </a:defRPr>
            </a:pPr>
            <a:r>
              <a:t>Search, fuzzy correction and similarity detection must work together while keeping memory and query time practical.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234440"/>
            <a:ext cx="2743200" cy="132588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23960" y="130759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E67B2"/>
                </a:solidFill>
                <a:latin typeface="Aptos"/>
              </a:defRPr>
            </a:pPr>
            <a:r>
              <a:t>DSA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36776"/>
            <a:ext cx="2560320" cy="868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0">
                <a:solidFill>
                  <a:srgbClr val="232B34"/>
                </a:solidFill>
                <a:latin typeface="Aptos"/>
              </a:defRPr>
            </a:pPr>
            <a:r>
              <a:t>Indexes, tries, hashing, dynamic programming and suffix structures reduce redundant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34640"/>
            <a:ext cx="21031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1">
                <a:solidFill>
                  <a:srgbClr val="142D4E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8823960" cy="20116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Unicode normalization, cleaning and tokenization</a:t>
            </a:r>
          </a:p>
          <a:p>
            <a:pPr>
              <a:spcAft>
                <a:spcPts val="5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Exact and multi-pattern keyword search</a:t>
            </a:r>
          </a:p>
          <a:p>
            <a:pPr>
              <a:spcAft>
                <a:spcPts val="5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Fuzzy dictionary lookup using edit distance</a:t>
            </a:r>
          </a:p>
          <a:p>
            <a:pPr>
              <a:spcAft>
                <a:spcPts val="5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Document similarity using common substrings and vector similarity</a:t>
            </a:r>
          </a:p>
          <a:p>
            <a:pPr>
              <a:spcAft>
                <a:spcPts val="5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Ranking by frequency / TF–IDF / similarity with contextual snippets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143000"/>
            <a:ext cx="88239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1">
                <a:solidFill>
                  <a:srgbClr val="142D4E"/>
                </a:solidFill>
                <a:latin typeface="Aptos"/>
              </a:defRPr>
            </a:pPr>
            <a:r>
              <a:rPr sz="1700"/>
              <a:t>Algorithms and optimized structures used in the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1572768"/>
            <a:ext cx="1508760" cy="402336"/>
          </a:xfrm>
          <a:prstGeom prst="rect">
            <a:avLst/>
          </a:prstGeom>
          <a:solidFill>
            <a:srgbClr val="142D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98648" y="1609344"/>
            <a:ext cx="147218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sz="1300" b="1"/>
              <a:t>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72768"/>
            <a:ext cx="2148840" cy="402336"/>
          </a:xfrm>
          <a:prstGeom prst="rect">
            <a:avLst/>
          </a:prstGeom>
          <a:solidFill>
            <a:srgbClr val="142D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07407" y="1609344"/>
            <a:ext cx="211226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sz="1300" b="1"/>
              <a:t>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572768"/>
            <a:ext cx="2880360" cy="402336"/>
          </a:xfrm>
          <a:prstGeom prst="rect">
            <a:avLst/>
          </a:prstGeom>
          <a:solidFill>
            <a:srgbClr val="142D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6248" y="1609344"/>
            <a:ext cx="284378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sz="1300" b="1"/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572768"/>
            <a:ext cx="1965960" cy="402336"/>
          </a:xfrm>
          <a:prstGeom prst="rect">
            <a:avLst/>
          </a:prstGeom>
          <a:solidFill>
            <a:srgbClr val="142D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36608" y="1609344"/>
            <a:ext cx="1929384" cy="292608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Aptos"/>
              </a:defRPr>
            </a:pPr>
            <a:r>
              <a:rPr sz="1300" b="1"/>
              <a:t>Typical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975104"/>
            <a:ext cx="15087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1" y="2029968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KMP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975104"/>
            <a:ext cx="2148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2029968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LPS array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60" y="1975104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5392" y="2029968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Single pattern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975104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45752" y="2029968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O(n+m)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0360" y="2496312"/>
            <a:ext cx="15087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07791" y="2551176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Rabin–Karp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496312"/>
            <a:ext cx="214884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16552" y="2551176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Rolling hash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496312"/>
            <a:ext cx="28803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65392" y="2551176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Substring candidates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2496312"/>
            <a:ext cx="19659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45752" y="2551176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Avg. O(n+m)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80360" y="3017520"/>
            <a:ext cx="15087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07791" y="3072384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Aho–Corasick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3017520"/>
            <a:ext cx="2148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16552" y="3072384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Trie + failure links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3017520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3072384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Many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3017520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45752" y="3072384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O(n+matches)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" y="3538728"/>
            <a:ext cx="15087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07791" y="3593592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Levenshtein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538728"/>
            <a:ext cx="214884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16552" y="3593592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DP rows/matrix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538728"/>
            <a:ext cx="28803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5392" y="3593592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Fuzzy query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3538728"/>
            <a:ext cx="19659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45752" y="3593592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O(mn)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80360" y="4059935"/>
            <a:ext cx="15087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907791" y="4114799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Suffix Array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89120" y="4059935"/>
            <a:ext cx="214884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16552" y="4114799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Sorted suffixes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37960" y="4059935"/>
            <a:ext cx="28803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65392" y="4114799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Common substrings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059935"/>
            <a:ext cx="19659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45752" y="4114799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O(n log n)*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80360" y="4581144"/>
            <a:ext cx="15087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907791" y="4636007"/>
            <a:ext cx="14538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1">
                <a:solidFill>
                  <a:srgbClr val="232B34"/>
                </a:solidFill>
                <a:latin typeface="Aptos"/>
              </a:defRPr>
            </a:pPr>
            <a:r>
              <a:rPr sz="1200" b="0"/>
              <a:t>TF–IDF + Cosine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89120" y="4581144"/>
            <a:ext cx="214884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16552" y="4636007"/>
            <a:ext cx="209397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Sparse maps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37960" y="4581144"/>
            <a:ext cx="28803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65392" y="4636007"/>
            <a:ext cx="2825496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Similarity/ranking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20" y="4581144"/>
            <a:ext cx="1965960" cy="521207"/>
          </a:xfrm>
          <a:prstGeom prst="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445752" y="4636007"/>
            <a:ext cx="1911095" cy="393192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150" b="0">
                <a:solidFill>
                  <a:srgbClr val="232B34"/>
                </a:solidFill>
                <a:latin typeface="Aptos"/>
              </a:defRPr>
            </a:pPr>
            <a:r>
              <a:rPr sz="1200" b="0"/>
              <a:t>Sparse based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5230368"/>
            <a:ext cx="4572000" cy="2286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050" b="0">
                <a:solidFill>
                  <a:srgbClr val="5F6973"/>
                </a:solidFill>
                <a:latin typeface="Aptos"/>
              </a:defRPr>
            </a:pPr>
            <a:r>
              <a:rPr sz="1000"/>
              <a:t>*Depends on the suffix-array construction method.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097280"/>
            <a:ext cx="21031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1">
                <a:solidFill>
                  <a:srgbClr val="142D4E"/>
                </a:solidFill>
                <a:latin typeface="Aptos"/>
              </a:defRPr>
            </a:pPr>
            <a:r>
              <a:rPr sz="1800" b="1"/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444752"/>
            <a:ext cx="8823960" cy="12344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450" b="0">
                <a:solidFill>
                  <a:srgbClr val="232B34"/>
                </a:solidFill>
                <a:latin typeface="Aptos"/>
              </a:defRPr>
            </a:pPr>
            <a:r>
              <a:rPr sz="1400"/>
              <a:t>Traditional search struggles with Unicode scripts, misspellings and very large corpora. Plagiarism detection and clustering also require efficient identification of duplicate or highly similar documents. The project designs a scalable engine that preprocesses text, builds efficient indexes, supports exact/fuzzy search, computes similarity and ranks results without repeatedly scanning every document.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788920"/>
            <a:ext cx="164592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1">
                <a:solidFill>
                  <a:srgbClr val="142D4E"/>
                </a:solidFill>
                <a:latin typeface="Aptos"/>
              </a:defRPr>
            </a:pPr>
            <a:r>
              <a:rPr sz="1800" b="1"/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127248"/>
            <a:ext cx="8823960" cy="22402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2B34"/>
                </a:solidFill>
                <a:latin typeface="Aptos"/>
              </a:defRPr>
            </a:pPr>
            <a:r>
              <a:rPr sz="1300"/>
              <a:t>• Build a Unicode-aware search engine for multilingual corpora.</a:t>
            </a:r>
            <a:br/>
            <a:r>
              <a:rPr sz="1300"/>
              <a:t>• Implement KMP, Rabin–Karp and Aho–Corasick for keyword matching.</a:t>
            </a:r>
            <a:br/>
            <a:r>
              <a:rPr sz="1300"/>
              <a:t>• Use Levenshtein distance for fuzzy dictionary queries.</a:t>
            </a:r>
            <a:br/>
            <a:r>
              <a:rPr sz="1300"/>
              <a:t>• Use suffix arrays/trees plus similarity metrics for duplicate detection.</a:t>
            </a:r>
            <a:br/>
            <a:r>
              <a:rPr sz="1300"/>
              <a:t>• Rank by frequency, TF–IDF or similarity and return contextual snippets.</a:t>
            </a:r>
            <a:br/>
            <a:r>
              <a:rPr sz="1300"/>
              <a:t>• Use compact indexes, sparse structures and candidate filtering for scalability.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880360" y="1097280"/>
            <a:ext cx="2148840" cy="9601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F3750"/>
                </a:solidFill>
              </a:rPr>
              <a:t>Candidate A + B</a:t>
            </a:r>
          </a:p>
          <a:p>
            <a:pPr algn="ctr"/>
            <a:r>
              <a:rPr sz="900">
                <a:solidFill>
                  <a:srgbClr val="1F3750"/>
                </a:solidFill>
              </a:rPr>
              <a:t>Two code submissions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532120" y="1097280"/>
            <a:ext cx="2148840" cy="9601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50"/>
                </a:solidFill>
              </a:rPr>
              <a:t>Preprocessor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Strip comments • normalize whitespace
track original lines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0" y="1572768"/>
            <a:ext cx="502920" cy="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80360" y="2743200"/>
            <a:ext cx="2331720" cy="105156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50"/>
                </a:solidFill>
              </a:rPr>
              <a:t>Rabin–Karp + Winnowing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Rolling hashes
shared-block fingerprints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2743200"/>
            <a:ext cx="2331720" cy="105156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50"/>
                </a:solidFill>
              </a:rPr>
              <a:t>KMP + Z-Algorithm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LPS + prefix-box matching
O(N+M) / O(N)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2743200"/>
            <a:ext cx="2331720" cy="105156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50"/>
                </a:solidFill>
              </a:rPr>
              <a:t>Suffix Array + Kasai LCP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LCS discovery
matching line ranges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041648" y="2057400"/>
            <a:ext cx="2569464" cy="68580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11112" y="2057400"/>
            <a:ext cx="45720" cy="68580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11112" y="2057400"/>
            <a:ext cx="2642616" cy="68580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0" y="4434840"/>
            <a:ext cx="2788920" cy="9601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50"/>
                </a:solidFill>
              </a:rPr>
              <a:t>Consensus Scoring Engine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Weighted multi-algorithm score
CRITICAL / SAFE verdict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434840"/>
            <a:ext cx="2788920" cy="960120"/>
          </a:xfrm>
          <a:prstGeom prst="roundRect">
            <a:avLst/>
          </a:prstGeom>
          <a:solidFill>
            <a:srgbClr val="F1F6FA"/>
          </a:solidFill>
          <a:ln w="15240">
            <a:solidFill>
              <a:srgbClr val="2E6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50"/>
                </a:solidFill>
              </a:rPr>
              <a:t>Interactive Web UI</a:t>
            </a:r>
          </a:p>
          <a:p>
            <a:pPr algn="ctr"/>
            <a:r>
              <a:rPr sz="800">
                <a:solidFill>
                  <a:srgbClr val="1F3750"/>
                </a:solidFill>
              </a:rPr>
              <a:t>Risk meter • synchronized diff
radar &amp; latency charts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41648" y="3794760"/>
            <a:ext cx="1490472" cy="64008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897880" y="3794760"/>
            <a:ext cx="758952" cy="64008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858000" y="3794760"/>
            <a:ext cx="2395728" cy="64008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60920" y="4910328"/>
            <a:ext cx="457200" cy="0"/>
          </a:xfrm>
          <a:prstGeom prst="line">
            <a:avLst/>
          </a:prstGeom>
          <a:ln w="17780">
            <a:solidFill>
              <a:srgbClr val="2E67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80360" y="5650992"/>
            <a:ext cx="8823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/>
              <a:t>Preprocessing → DSA detectors → consensus score → risk verdict → synchronized visual diff.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Empirical Results &amp; Benchmarks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80360" y="1115568"/>
            <a:ext cx="8823960" cy="3657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700" b="1">
                <a:solidFill>
                  <a:srgbClr val="142D4E"/>
                </a:solidFill>
                <a:latin typeface="Aptos"/>
              </a:defRPr>
            </a:pPr>
            <a:r>
              <a:rPr sz="1400"/>
              <a:t>Prototype benchmark results from copied/reformatted and independent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1600200"/>
            <a:ext cx="27432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71800" y="167335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E67B2"/>
                </a:solidFill>
                <a:latin typeface="Aptos"/>
              </a:defRPr>
            </a:pPr>
            <a:r>
              <a:rPr sz="1300" b="1"/>
              <a:t>Test Case 1 — Copied QuickSort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002536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00" b="0">
                <a:solidFill>
                  <a:srgbClr val="232B34"/>
                </a:solidFill>
                <a:latin typeface="Aptos"/>
              </a:defRPr>
            </a:pPr>
            <a:r>
              <a:rPr sz="900"/>
              <a:t>Overall Similarity: 96.12%</a:t>
            </a:r>
            <a:br/>
            <a:r>
              <a:rPr sz="900"/>
              <a:t>Verdict: CRITICAL — HIGH PLAGIARISM DETECTED</a:t>
            </a:r>
            <a:br/>
            <a:r>
              <a:rPr sz="900"/>
              <a:t>Rabin–Karp Winnowing: 96.86%</a:t>
            </a:r>
            <a:br/>
            <a:r>
              <a:rPr sz="900"/>
              <a:t>KMP: 95.63%</a:t>
            </a:r>
            <a:br/>
            <a:r>
              <a:rPr sz="900"/>
              <a:t>Suffix Array + Kasai LCP: 95.39%</a:t>
            </a:r>
            <a:br/>
            <a:r>
              <a:rPr sz="900"/>
              <a:t>TF-IDF Word Cosine: 99.02%</a:t>
            </a:r>
            <a:br/>
            <a:r>
              <a:rPr sz="900"/>
              <a:t>8 cloned blocks; Candidate A Lines 1–21 vs B Lines 2–22.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600200"/>
            <a:ext cx="27432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97879" y="167335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28B8D"/>
                </a:solidFill>
                <a:latin typeface="Aptos"/>
              </a:defRPr>
            </a:pPr>
            <a:r>
              <a:rPr sz="1300" b="1"/>
              <a:t>Test Case 2 — Independent Linear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79" y="2002536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00" b="0">
                <a:solidFill>
                  <a:srgbClr val="232B34"/>
                </a:solidFill>
                <a:latin typeface="Aptos"/>
              </a:defRPr>
            </a:pPr>
            <a:r>
              <a:rPr sz="1000"/>
              <a:t>Overall Similarity: 8.43%</a:t>
            </a:r>
            <a:br/>
            <a:r>
              <a:rPr sz="1000"/>
              <a:t>Verdict: SAFE — LOW SIMILARITY (INDEPENDENT WORK)</a:t>
            </a:r>
            <a:br/>
            <a:r>
              <a:rPr sz="1000"/>
              <a:t>KMP Coverage: 0.00%</a:t>
            </a:r>
            <a:br/>
            <a:r>
              <a:rPr sz="1000"/>
              <a:t>Suffix Array LCS: 0 characters</a:t>
            </a:r>
            <a:br/>
            <a:r>
              <a:rPr sz="1000"/>
              <a:t>Detected cloned blocks: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600200"/>
            <a:ext cx="2743200" cy="141732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1673352"/>
            <a:ext cx="256032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E67B2"/>
                </a:solidFill>
                <a:latin typeface="Aptos"/>
              </a:defRPr>
            </a:pPr>
            <a:r>
              <a:rPr sz="1300" b="1"/>
              <a:t>Execution Latency (µs)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002536"/>
            <a:ext cx="2560320" cy="9601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200" b="0">
                <a:solidFill>
                  <a:srgbClr val="232B34"/>
                </a:solidFill>
                <a:latin typeface="Aptos"/>
              </a:defRPr>
            </a:pPr>
            <a:r>
              <a:rPr sz="900"/>
              <a:t>Rabin–Karp + Winnowing: 902 / 731</a:t>
            </a:r>
            <a:br/>
            <a:r>
              <a:rPr sz="900"/>
              <a:t>KMP: 1,879 / 1,220</a:t>
            </a:r>
            <a:br/>
            <a:r>
              <a:rPr sz="900"/>
              <a:t>Z-Algorithm: 6,524 / 90</a:t>
            </a:r>
            <a:br/>
            <a:r>
              <a:rPr sz="900"/>
              <a:t>Suffix Array + Kasai LCP: 12,386 / 2,074</a:t>
            </a:r>
            <a:br/>
            <a:r>
              <a:rPr sz="900"/>
              <a:t>TF-IDF Cosine: 401 / 80</a:t>
            </a:r>
            <a:br/>
            <a:r>
              <a:rPr sz="900"/>
              <a:t>Total Pipeline: ~22 ms / ~4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310128"/>
            <a:ext cx="2194560" cy="32004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800" b="1">
                <a:solidFill>
                  <a:srgbClr val="142D4E"/>
                </a:solidFill>
                <a:latin typeface="Aptos"/>
              </a:defRPr>
            </a:pPr>
            <a:r>
              <a:rPr sz="1300" b="1"/>
              <a:t>Key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57600"/>
            <a:ext cx="8823960" cy="1645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232B34"/>
                </a:solidFill>
                <a:latin typeface="Aptos"/>
              </a:defRPr>
            </a:pPr>
            <a:r>
              <a:rPr sz="900"/>
              <a:t>• Reformatted copied code is still detected with high similarity.</a:t>
            </a:r>
            <a:br/>
            <a:r>
              <a:rPr sz="900"/>
              <a:t>• Independent work remains low-risk with no cloned blocks.</a:t>
            </a:r>
            <a:br/>
            <a:r>
              <a:rPr sz="900"/>
              <a:t>• Rolling hashes and TF-IDF are very fast; suffix structures provide comprehensive LCS evidence.</a:t>
            </a:r>
            <a:br/>
            <a:r>
              <a:rPr sz="900"/>
              <a:t>• Full analysis is suitable for real-time response.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2971800" y="1417320"/>
            <a:ext cx="4069080" cy="324612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3240" y="1490472"/>
            <a:ext cx="38862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E67B2"/>
                </a:solidFill>
                <a:latin typeface="Aptos"/>
              </a:defRPr>
            </a:pPr>
            <a:r>
              <a:rPr sz="1800" b="1"/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819656"/>
            <a:ext cx="3886200" cy="2788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400" b="0">
                <a:solidFill>
                  <a:srgbClr val="232B34"/>
                </a:solidFill>
                <a:latin typeface="Aptos"/>
              </a:defRPr>
            </a:pPr>
            <a:r>
              <a:rPr sz="1400"/>
              <a:t>64-bit multi-core CPU</a:t>
            </a:r>
            <a:br/>
            <a:r>
              <a:rPr sz="1400"/>
              <a:t>8 GB RAM minimum; 16 GB+ for larger corpora</a:t>
            </a:r>
            <a:br/>
            <a:r>
              <a:rPr sz="1400"/>
              <a:t>SSD storage for documents and indexes</a:t>
            </a:r>
            <a:br/>
            <a:r>
              <a:rPr sz="1400"/>
              <a:t>Scalable compute/storage for very large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4069080" cy="3246120"/>
          </a:xfrm>
          <a:prstGeom prst="roundRect">
            <a:avLst/>
          </a:prstGeom>
          <a:solidFill>
            <a:srgbClr val="F1F6FA"/>
          </a:solidFill>
          <a:ln>
            <a:solidFill>
              <a:srgbClr val="D7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490472"/>
            <a:ext cx="3886200" cy="2743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500" b="1">
                <a:solidFill>
                  <a:srgbClr val="228B8D"/>
                </a:solidFill>
                <a:latin typeface="Aptos"/>
              </a:defRPr>
            </a:pPr>
            <a:r>
              <a:rPr sz="1800" b="1"/>
              <a:t>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19656"/>
            <a:ext cx="3886200" cy="278892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400" b="0">
                <a:solidFill>
                  <a:srgbClr val="232B34"/>
                </a:solidFill>
                <a:latin typeface="Aptos"/>
              </a:defRPr>
            </a:pPr>
            <a:r>
              <a:rPr sz="1400"/>
              <a:t>Java SE 11 / 17 / 21+</a:t>
            </a:r>
            <a:br/>
            <a:r>
              <a:rPr sz="1400"/>
              <a:t>Standard Java runtime + vanilla JavaScript dashboard</a:t>
            </a:r>
            <a:br/>
            <a:r>
              <a:rPr sz="1400"/>
              <a:t>Modern web browser</a:t>
            </a:r>
            <a:br/>
            <a:r>
              <a:rPr sz="1400"/>
              <a:t>No third-party libraries or external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892040"/>
            <a:ext cx="8823960" cy="41148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1300" b="1">
                <a:solidFill>
                  <a:srgbClr val="5F6973"/>
                </a:solidFill>
                <a:latin typeface="Aptos"/>
              </a:defRPr>
            </a:pPr>
            <a:r>
              <a:rPr sz="1100"/>
              <a:t>Keep the core string, suffix and similarity algorithms explicit so the DSA contribution is clearly demonstrated.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1325880"/>
            <a:ext cx="8823960" cy="41148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1750" b="0">
                <a:solidFill>
                  <a:srgbClr val="232B34"/>
                </a:solidFill>
                <a:latin typeface="Aptos"/>
              </a:defRPr>
            </a:pPr>
            <a:r>
              <a:rPr sz="1500"/>
              <a:t>The Document &amp; Code Similarity Analyzer realizes DSA-3 CO2 &amp; CO6 concepts in a practical plagiarism-analysis application. KMP and Z-Algorithm avoid unnecessary backtracking, Rabin–Karp with Winnowing provides compact fingerprint evidence, and Suffix Array + Kasai LCP exposes long common substrings. TF-IDF adds vocabulary-level evidence, while the consensus engine combines multiple signals into a clear risk verdict.</a:t>
            </a:r>
            <a:br/>
            <a:br/>
            <a:r>
              <a:rPr sz="1500"/>
              <a:t>Prototype results show strong separation between copied code (96.1% similarity) and independent logic (8.4% similarity), with the complete analysis pipeline responding in milliseconds. The interactive dashboard makes the result useful for examiners and recruiters.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000" b="1"/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234440"/>
            <a:ext cx="8823960" cy="425196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>
              <a:spcAft>
                <a:spcPts val="5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rPr sz="1500"/>
              <a:t>• Advanced Dynamic Programming: Add Needleman-Wunsch global sequence alignment for token-level insertions and deletions.</a:t>
            </a:r>
            <a:br/>
            <a:r>
              <a:rPr sz="1500"/>
              <a:t>• Network Flow Bipartite Matching: Match code blocks/functions 1-to-1 using a flow network.</a:t>
            </a:r>
            <a:br/>
            <a:r>
              <a:rPr sz="1500"/>
              <a:t>• Cross-Language Plagiarism: Extend analysis to Python and JavaScript in addition to Java/C/C++.</a:t>
            </a:r>
            <a:br/>
            <a:r>
              <a:rPr sz="1500"/>
              <a:t>• Massive Batch Screening: Use Locality-Sensitive Hashing (LSH) and MinHash for thousands of submissions.</a:t>
            </a:r>
            <a:br/>
            <a:r>
              <a:rPr sz="1500"/>
              <a:t>• Better Reporting: Add highlighted matching passages, plagiarism reports and richer examiner analytics.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/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4069080"/>
            <a:ext cx="8823960" cy="457200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ctr">
              <a:defRPr sz="2000" b="1">
                <a:solidFill>
                  <a:srgbClr val="142D4E"/>
                </a:solidFill>
                <a:latin typeface="Aptos"/>
              </a:defRPr>
            </a:pPr>
            <a:r>
              <a:rPr sz="2000" b="1"/>
              <a:t>Document &amp; Code Similarity Analyzer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998</Words>
  <Application>Microsoft Macintosh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Data Structures and Algorithms -3 (25CS2103E) Document Similarity Analyzer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DUDDUKURI BALA CHARAN</cp:lastModifiedBy>
  <cp:revision>20</cp:revision>
  <dcterms:created xsi:type="dcterms:W3CDTF">2024-08-29T05:25:00Z</dcterms:created>
  <dcterms:modified xsi:type="dcterms:W3CDTF">2026-09-11T04:05:11Z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